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EXECUTIVE DECISION REPORT</a:t>
            </a:r>
          </a:p>
          <a:p>
            <a:pPr>
              <a:defRPr sz="2400">
                <a:solidFill>
                  <a:srgbClr val="DCE6F0"/>
                </a:solidFill>
              </a:defRPr>
            </a:pPr>
            <a:r>
              <a:t>Retail Sales Analytics &amp; Strategic Recommendations</a:t>
            </a:r>
          </a:p>
          <a:p>
            <a:pPr>
              <a:defRPr sz="1600">
                <a:solidFill>
                  <a:srgbClr val="BECDDC"/>
                </a:solidFill>
              </a:defRPr>
            </a:pPr>
            <a:r>
              <a:t>Prepared for C-Suite Decision Makers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0749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FFFFFF"/>
                </a:solidFill>
              </a:defRPr>
            </a:pPr>
            <a:r>
              <a:t>Prepared by: Shruthi Nanubothu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Executive Summary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146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2240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Net Revenue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₹14,056.65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337560" y="1325880"/>
            <a:ext cx="25146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474720" y="1435607"/>
            <a:ext cx="2240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Total Orders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35040" y="1325880"/>
            <a:ext cx="25146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35607"/>
            <a:ext cx="2240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AOV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₹1,561.85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732520" y="1325880"/>
            <a:ext cx="2514600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0" y="1435607"/>
            <a:ext cx="2240280" cy="1051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Paid Order Rate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63.64%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88036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Professional customers generated the highest revenue and average order value.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Course Access was the strongest revenue category.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3 of 11 orders were pending or failed, creating a payment recovery opportunity.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The analysis supports targeted growth, category expansion, and stronger operational controls.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2/12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Business Objective &amp; KPIs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435607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Gross Revenue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₹14,786.00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32588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66160" y="1435607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Net Revenue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₹14,056.65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435607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Total Quantity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06839" y="132588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3999" y="1435607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Average Discount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3.64%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651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61488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Paid Orders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7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29000" y="2651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566160" y="2761488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Pending Orders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2651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B4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2761488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Failed Orders</a:t>
            </a:r>
          </a:p>
          <a:p>
            <a:pPr>
              <a:defRPr sz="2100" b="1">
                <a:solidFill>
                  <a:srgbClr val="B44641"/>
                </a:solidFill>
              </a:defRPr>
            </a:pPr>
            <a:r>
              <a:t>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06839" y="2651760"/>
            <a:ext cx="2514600" cy="109728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3999" y="2761488"/>
            <a:ext cx="22402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AOV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₹1,561.85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3/12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Data &amp;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Dataset: cleaned retail order data containing 11 orders and 11 analytical fields.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Data preparation: reviewed missing values, duplicates, numeric fields, dates, discounts, and payment statuses.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Analysis: KPI calculations, segment/category/city aggregation, descriptive statistics, correlation, t-test, and ANOVA.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Business focus: identify revenue drivers, operational risks, and actionable opportunities.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Limitation: the small sample means findings should be treated as directional and validated with larger datasets.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4/12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Revenue Performance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017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Gross Revenue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₹14,786.00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325880"/>
            <a:ext cx="3017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069080" y="1435607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Net Revenue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₹14,056.65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1325880"/>
            <a:ext cx="301752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269480" y="1435607"/>
            <a:ext cx="274320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Net / Gross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95.06%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Net revenue remains close to gross revenue, indicating a relatively modest overall discount impact.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Average order value is ₹1,561.85 across the 11 orders.</a:t>
            </a:r>
          </a:p>
          <a:p>
            <a:pPr>
              <a:spcAft>
                <a:spcPts val="1000"/>
              </a:spcAft>
              <a:defRPr sz="1800">
                <a:solidFill>
                  <a:srgbClr val="23282D"/>
                </a:solidFill>
              </a:defRPr>
            </a:pPr>
            <a:r>
              <a:t>Revenue performance is concentrated in a small number of high-value segments and categories.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5/12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Customer Segment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417320"/>
            <a:ext cx="32461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27048"/>
            <a:ext cx="2971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Professional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₹6,823.45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97180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82D"/>
                </a:solidFill>
              </a:defRPr>
            </a:pPr>
            <a:r>
              <a:t>Average Order Value: ₹2,274.48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59" y="1417320"/>
            <a:ext cx="32461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1527048"/>
            <a:ext cx="2971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Student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₹4,735.20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97180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82D"/>
                </a:solidFill>
              </a:defRPr>
            </a:pPr>
            <a:r>
              <a:t>Average Order Value: ₹1,183.80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417320"/>
            <a:ext cx="3246120" cy="150876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527048"/>
            <a:ext cx="297180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Fresher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₹2,498.00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19" y="2971800"/>
            <a:ext cx="31089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3282D"/>
                </a:solidFill>
              </a:defRPr>
            </a:pPr>
            <a:r>
              <a:t>Average Order Value: ₹1,249.00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0690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Professional is the strongest segment by both revenue and AOV.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ANOVA: F = 11.04, p = 0.00976, indicating statistically significant differences in average sales across segments.</a:t>
            </a:r>
          </a:p>
          <a:p>
            <a:pPr>
              <a:spcAft>
                <a:spcPts val="1000"/>
              </a:spcAft>
              <a:defRPr sz="1600">
                <a:solidFill>
                  <a:srgbClr val="23282D"/>
                </a:solidFill>
              </a:defRPr>
            </a:pPr>
            <a:r>
              <a:t>Priority implication: protect and grow the Professional customer base.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6/12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Category &amp; Geographic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435607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Top Category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Course Access</a:t>
            </a:r>
            <a:br/>
            <a:r>
              <a:t>₹5,546.30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8056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435607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Top City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Chennai</a:t>
            </a:r>
            <a:br/>
            <a:r>
              <a:t>₹3,736.20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25880"/>
            <a:ext cx="320040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366760" y="1435607"/>
            <a:ext cx="29260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Top Category AOV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₹1,848.77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5468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Course Access generated the highest category revenue, followed by Learning Kit and Mentor Session.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Chennai generated the highest city revenue across 3 orders.</a:t>
            </a:r>
          </a:p>
          <a:p>
            <a:pPr>
              <a:spcAft>
                <a:spcPts val="1000"/>
              </a:spcAft>
              <a:defRPr sz="1700">
                <a:solidFill>
                  <a:srgbClr val="23282D"/>
                </a:solidFill>
              </a:defRPr>
            </a:pPr>
            <a:r>
              <a:t>Several cities have only one order, so geographic conclusions should be validated with more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7/12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Key Revenue Drivers</a:t>
            </a:r>
          </a:p>
        </p:txBody>
      </p:sp>
      <p:sp>
        <p:nvSpPr>
          <p:cNvPr id="4" name="Oval 3"/>
          <p:cNvSpPr/>
          <p:nvPr/>
        </p:nvSpPr>
        <p:spPr>
          <a:xfrm>
            <a:off x="822960" y="1325880"/>
            <a:ext cx="594360" cy="59436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07592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B"/>
                </a:solidFill>
              </a:defRPr>
            </a:pPr>
            <a:r>
              <a:t>Professional customers</a:t>
            </a:r>
          </a:p>
          <a:p>
            <a:pPr>
              <a:defRPr sz="1500">
                <a:solidFill>
                  <a:srgbClr val="69737D"/>
                </a:solidFill>
              </a:defRPr>
            </a:pPr>
            <a:r>
              <a:t>₹6,823.45 revenue | highest AOV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43200"/>
            <a:ext cx="594360" cy="59436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834640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724912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B"/>
                </a:solidFill>
              </a:defRPr>
            </a:pPr>
            <a:r>
              <a:t>Course Access</a:t>
            </a:r>
          </a:p>
          <a:p>
            <a:pPr>
              <a:defRPr sz="1500">
                <a:solidFill>
                  <a:srgbClr val="69737D"/>
                </a:solidFill>
              </a:defRPr>
            </a:pPr>
            <a:r>
              <a:t>₹5,546.30 category revenue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4160520"/>
            <a:ext cx="594360" cy="594360"/>
          </a:xfrm>
          <a:prstGeom prst="ellipse">
            <a:avLst/>
          </a:prstGeom>
          <a:solidFill>
            <a:srgbClr val="37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4251959"/>
            <a:ext cx="2743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42232"/>
            <a:ext cx="93268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192D4B"/>
                </a:solidFill>
              </a:defRPr>
            </a:pPr>
            <a:r>
              <a:t>Chennai</a:t>
            </a:r>
          </a:p>
          <a:p>
            <a:pPr>
              <a:defRPr sz="1500">
                <a:solidFill>
                  <a:srgbClr val="69737D"/>
                </a:solidFill>
              </a:defRPr>
            </a:pPr>
            <a:r>
              <a:t>₹3,736.20 city revenue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6235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3282D"/>
                </a:solidFill>
              </a:defRPr>
            </a:pPr>
            <a:r>
              <a:t>These drivers form the primary focus areas for growth initiatives, while the small sample requires validation before large-scale investment.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8/12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Risk Areas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1234440"/>
            <a:ext cx="1060704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B4464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60120" y="130759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B44641"/>
                </a:solidFill>
              </a:defRPr>
            </a:pPr>
            <a:r>
              <a:t>Payment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94760" y="130759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3 of 11 orders pending or failed (27.27%).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2194560"/>
            <a:ext cx="1060704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6771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7D2D"/>
                </a:solidFill>
              </a:defRPr>
            </a:pPr>
            <a:r>
              <a:t>Revenue Concentration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94760" y="226771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Professional contributes about 48.54% of net revenue.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3154680"/>
            <a:ext cx="1060704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322783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7D2D"/>
                </a:solidFill>
              </a:defRPr>
            </a:pPr>
            <a:r>
              <a:t>Category Concentration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322783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Course Access contributes about 39.46% of net revenue.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" y="4114800"/>
            <a:ext cx="1060704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0120" y="418795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69AA"/>
                </a:solidFill>
              </a:defRPr>
            </a:pPr>
            <a:r>
              <a:t>Data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94760" y="418795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Missing dates, quantities, city and revenue values affect reporting.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5074920"/>
            <a:ext cx="10607040" cy="713232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48072"/>
            <a:ext cx="29260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69AA"/>
                </a:solidFill>
              </a:defRPr>
            </a:pPr>
            <a:r>
              <a:t>Sample Size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5148072"/>
            <a:ext cx="72237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3282D"/>
                </a:solidFill>
              </a:defRPr>
            </a:pPr>
            <a:r>
              <a:t>Only 11 orders; findings are directional.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9/12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Strategic Recommendations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371600"/>
            <a:ext cx="338328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69AA"/>
                </a:solidFill>
              </a:defRPr>
            </a:pPr>
            <a:r>
              <a:t>Recommendation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B"/>
                </a:solidFill>
              </a:defRPr>
            </a:pPr>
            <a:r>
              <a:t>Focus on Professional Customers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4612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Create targeted offers, premium packages and retention campaigns for high-value customers.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371600"/>
            <a:ext cx="338328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916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69AA"/>
                </a:solidFill>
              </a:defRPr>
            </a:pPr>
            <a:r>
              <a:t>Recommendation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09160" y="219456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B"/>
                </a:solidFill>
              </a:defRPr>
            </a:pPr>
            <a:r>
              <a:t>Expand Course Access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09160" y="324612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Use bundles and cross-selling with Learning Kits and Mentor Sessions.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75320" y="1371600"/>
            <a:ext cx="3383280" cy="434340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0" y="1645920"/>
            <a:ext cx="29260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3769AA"/>
                </a:solidFill>
              </a:defRPr>
            </a:pPr>
            <a:r>
              <a:t>Recommendation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194560"/>
            <a:ext cx="288036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2D4B"/>
                </a:solidFill>
              </a:defRPr>
            </a:pPr>
            <a:r>
              <a:t>Reduce Payment &amp; Data Risks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3920" y="3246120"/>
            <a:ext cx="28346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Follow up pending/failed payments and strengthen mandatory data validation.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10/12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ROI Projection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32688"/>
            <a:ext cx="10789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69737D"/>
                </a:solidFill>
              </a:defRPr>
            </a:pPr>
            <a:r>
              <a:t>Scenario-based planning estimates, not guaranteed returns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280160"/>
            <a:ext cx="21945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Initiative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128016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Revenue Impact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128016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Cost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1280160"/>
            <a:ext cx="17373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Net Benefit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0" y="1280160"/>
            <a:ext cx="1463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69737D"/>
                </a:solidFill>
              </a:defRPr>
            </a:pPr>
            <a:r>
              <a:t>ROI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82D"/>
                </a:solidFill>
              </a:defRPr>
            </a:pPr>
            <a:r>
              <a:t>Professional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182880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₹682.35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0" y="182880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₹250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26679" y="182880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₹432.35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92640" y="182880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D7D55"/>
                </a:solidFill>
              </a:defRPr>
            </a:pPr>
            <a:r>
              <a:t>172.94%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92608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82D"/>
                </a:solidFill>
              </a:defRPr>
            </a:pPr>
            <a:r>
              <a:t>Course Access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292608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₹554.63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60720" y="292608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₹200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79" y="292608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₹354.63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292608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769AA"/>
                </a:solidFill>
              </a:defRPr>
            </a:pPr>
            <a:r>
              <a:t>177.31%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023360"/>
            <a:ext cx="21945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3282D"/>
                </a:solidFill>
              </a:defRPr>
            </a:pPr>
            <a:r>
              <a:t>Payment Recovery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023360"/>
            <a:ext cx="25603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₹2,023.65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4023360"/>
            <a:ext cx="1188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₹300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26679" y="4023360"/>
            <a:ext cx="1737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0">
                <a:solidFill>
                  <a:srgbClr val="23282D"/>
                </a:solidFill>
              </a:defRPr>
            </a:pPr>
            <a:r>
              <a:t>₹1,723.65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92640" y="402336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D27D2D"/>
                </a:solidFill>
              </a:defRPr>
            </a:pPr>
            <a:r>
              <a:t>574.55%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4864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>
                <a:solidFill>
                  <a:srgbClr val="23282D"/>
                </a:solidFill>
              </a:defRPr>
            </a:pPr>
            <a:r>
              <a:t>Assumptions: 10% uplift for Professional and Course Access; 50% recovery of pending/failed order value; illustrative implementation costs.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11/12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2004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92D4B"/>
                </a:solidFill>
              </a:defRPr>
            </a:pPr>
            <a:r>
              <a:t>Implementation Roadmap &amp; Final Decision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280160"/>
            <a:ext cx="33832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8988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0–30 DAYS</a:t>
            </a:r>
          </a:p>
          <a:p>
            <a:pPr>
              <a:defRPr sz="2100" b="1">
                <a:solidFill>
                  <a:srgbClr val="3769AA"/>
                </a:solidFill>
              </a:defRPr>
            </a:pPr>
            <a:r>
              <a:t>Launch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603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Target Professional customers, promote Course Access bundles, start payment follow-up, enforce data validation.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280160"/>
            <a:ext cx="33832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2D7D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26280" y="138988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31–60 DAYS</a:t>
            </a:r>
          </a:p>
          <a:p>
            <a:pPr>
              <a:defRPr sz="2100" b="1">
                <a:solidFill>
                  <a:srgbClr val="2D7D55"/>
                </a:solidFill>
              </a:defRPr>
            </a:pPr>
            <a:r>
              <a:t>Optimize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Track campaign response, category sales, payment recovery and data quality.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80" y="1280160"/>
            <a:ext cx="3383280" cy="1051560"/>
          </a:xfrm>
          <a:prstGeom prst="roundRect">
            <a:avLst/>
          </a:prstGeom>
          <a:solidFill>
            <a:srgbClr val="F2F6FA"/>
          </a:solidFill>
          <a:ln>
            <a:solidFill>
              <a:srgbClr val="D27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389888"/>
            <a:ext cx="310896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69737D"/>
                </a:solidFill>
              </a:defRPr>
            </a:pPr>
            <a:r>
              <a:t>61–90 DAYS</a:t>
            </a:r>
          </a:p>
          <a:p>
            <a:pPr>
              <a:defRPr sz="2100" b="1">
                <a:solidFill>
                  <a:srgbClr val="D27D2D"/>
                </a:solidFill>
              </a:defRPr>
            </a:pPr>
            <a:r>
              <a:t>Scale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66760" y="2560320"/>
            <a:ext cx="301752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>
                <a:solidFill>
                  <a:srgbClr val="23282D"/>
                </a:solidFill>
              </a:defRPr>
            </a:pPr>
            <a:r>
              <a:t>Expand successful campaigns, standardize recovery processes and review investment decisions.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800600"/>
            <a:ext cx="1060704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92D4B"/>
                </a:solidFill>
              </a:defRPr>
            </a:pPr>
            <a:r>
              <a:t>FINAL DECISION</a:t>
            </a:r>
          </a:p>
          <a:p>
            <a:pPr>
              <a:defRPr sz="1600" b="1">
                <a:solidFill>
                  <a:srgbClr val="23282D"/>
                </a:solidFill>
              </a:defRPr>
            </a:pPr>
            <a:r>
              <a:t>Prioritize high-value Professional customers, scale Course Access, and strengthen payment/data controls—then validate results with a larger dataset before major investment.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6510528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9737D"/>
                </a:solidFill>
              </a:defRPr>
            </a:pPr>
            <a:r>
              <a:t>Retail Sales Analytics | Executive Decision Report     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